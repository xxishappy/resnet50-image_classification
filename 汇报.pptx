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92" r:id="rId3"/>
    <p:sldId id="398" r:id="rId4"/>
    <p:sldId id="396" r:id="rId5"/>
    <p:sldId id="397" r:id="rId6"/>
    <p:sldId id="399" r:id="rId7"/>
    <p:sldId id="400" r:id="rId8"/>
    <p:sldId id="358" r:id="rId9"/>
    <p:sldId id="394" r:id="rId10"/>
    <p:sldId id="387" r:id="rId11"/>
    <p:sldId id="390" r:id="rId12"/>
    <p:sldId id="296" r:id="rId13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渝相 邓" initials="渝邓" lastIdx="1" clrIdx="0">
    <p:extLst>
      <p:ext uri="{19B8F6BF-5375-455C-9EA6-DF929625EA0E}">
        <p15:presenceInfo xmlns:p15="http://schemas.microsoft.com/office/powerpoint/2012/main" userId="5f0845768758ae5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CADA"/>
    <a:srgbClr val="434F70"/>
    <a:srgbClr val="5B9BD5"/>
    <a:srgbClr val="BFBFBF"/>
    <a:srgbClr val="001140"/>
    <a:srgbClr val="818181"/>
    <a:srgbClr val="E5EAE8"/>
    <a:srgbClr val="000000"/>
    <a:srgbClr val="E5EAEE"/>
    <a:srgbClr val="0F12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981" autoAdjust="0"/>
  </p:normalViewPr>
  <p:slideViewPr>
    <p:cSldViewPr>
      <p:cViewPr varScale="1">
        <p:scale>
          <a:sx n="95" d="100"/>
          <a:sy n="95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636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543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2E75E-A9B4-4689-C478-462DE90B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A8AD8D-C23B-A73C-CA7D-E41D915BF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AC1EBB-2549-C3F8-0A12-E6424EA69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34FF1C-17A3-917E-8439-C70B36153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290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A6EC7-6B5B-24FA-8805-C3FDFE719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5A9F49-0F85-B31B-D163-56FEA3FE3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177E19-58D9-DA0A-B871-4CDA37946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1" dirty="0"/>
              <a:t>Bottleneck</a:t>
            </a:r>
            <a:r>
              <a:rPr lang="zh-CN" altLang="en-US" dirty="0"/>
              <a:t>两个</a:t>
            </a:r>
            <a:r>
              <a:rPr lang="en-US" altLang="zh-CN" dirty="0"/>
              <a:t>1×1</a:t>
            </a:r>
            <a:r>
              <a:rPr lang="zh-CN" altLang="en-US" dirty="0"/>
              <a:t>卷积层的主要作用分别是减少通道数和恢复通道数，这样就可以使它们中间的</a:t>
            </a:r>
            <a:r>
              <a:rPr lang="en-US" altLang="zh-CN" dirty="0"/>
              <a:t>3×3</a:t>
            </a:r>
            <a:r>
              <a:rPr lang="zh-CN" altLang="en-US" dirty="0"/>
              <a:t>卷积层的输入和输出的通道数都较小，因此效率更高。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16D007-2383-516F-9E33-5741B45B1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65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b463018a-b22a-4c1f-abeb-afafbbb06a2b"/>
          <p:cNvPicPr>
            <a:picLocks noChangeAspect="1"/>
          </p:cNvPicPr>
          <p:nvPr userDrawn="1"/>
        </p:nvPicPr>
        <p:blipFill>
          <a:blip r:embed="rId2">
            <a:lum bright="-24000" contrast="-12000"/>
          </a:blip>
          <a:srcRect t="23823" b="10768"/>
          <a:stretch>
            <a:fillRect/>
          </a:stretch>
        </p:blipFill>
        <p:spPr>
          <a:xfrm>
            <a:off x="184150" y="4131945"/>
            <a:ext cx="11824970" cy="258953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66675" y="-67945"/>
            <a:ext cx="12327255" cy="6993890"/>
          </a:xfrm>
          <a:prstGeom prst="rect">
            <a:avLst/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3261360" y="539591"/>
            <a:ext cx="5669280" cy="645160"/>
          </a:xfrm>
          <a:noFill/>
        </p:spPr>
        <p:txBody>
          <a:bodyPr wrap="none" rtlCol="0">
            <a:sp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0" normalizeH="0" baseline="0" noProof="1" dirty="0">
                <a:solidFill>
                  <a:srgbClr val="00114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929005" y="1320165"/>
            <a:ext cx="103339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LOGO 蓝_副本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lum bright="-30000"/>
          </a:blip>
          <a:stretch>
            <a:fillRect/>
          </a:stretch>
        </p:blipFill>
        <p:spPr>
          <a:xfrm>
            <a:off x="11262995" y="6059170"/>
            <a:ext cx="633095" cy="6667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5240" y="-31115"/>
            <a:ext cx="12237085" cy="691896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rgbClr val="E6E6E6">
                  <a:alpha val="100000"/>
                </a:srgbClr>
              </a:gs>
              <a:gs pos="100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0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0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2832776">
            <a:off x="-5994103" y="1068407"/>
            <a:ext cx="6659487" cy="6659487"/>
          </a:xfrm>
          <a:prstGeom prst="rect">
            <a:avLst/>
          </a:prstGeom>
          <a:solidFill>
            <a:schemeClr val="accent5">
              <a:lumMod val="75000"/>
              <a:alpha val="34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2832776">
            <a:off x="11497692" y="-811230"/>
            <a:ext cx="6659487" cy="6659487"/>
          </a:xfrm>
          <a:prstGeom prst="rect">
            <a:avLst/>
          </a:prstGeom>
          <a:solidFill>
            <a:schemeClr val="accent5">
              <a:lumMod val="75000"/>
              <a:alpha val="34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72000" y="1845000"/>
            <a:ext cx="10055440" cy="1442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8000" dirty="0">
                <a:solidFill>
                  <a:srgbClr val="00114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 会 汇 报</a:t>
            </a:r>
            <a:endParaRPr lang="en-US" altLang="zh-CN" sz="8000" dirty="0">
              <a:solidFill>
                <a:srgbClr val="00114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821380" y="3878593"/>
            <a:ext cx="2520315" cy="503555"/>
          </a:xfrm>
          <a:prstGeom prst="roundRect">
            <a:avLst/>
          </a:prstGeom>
          <a:gradFill>
            <a:gsLst>
              <a:gs pos="0">
                <a:srgbClr val="001140"/>
              </a:gs>
              <a:gs pos="100000">
                <a:srgbClr val="33517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27" name="组合 17"/>
          <p:cNvGrpSpPr/>
          <p:nvPr userDrawn="1"/>
        </p:nvGrpSpPr>
        <p:grpSpPr>
          <a:xfrm>
            <a:off x="351790" y="394970"/>
            <a:ext cx="2691765" cy="651510"/>
            <a:chOff x="3059832" y="1050241"/>
            <a:chExt cx="3384376" cy="810002"/>
          </a:xfrm>
        </p:grpSpPr>
        <p:pic>
          <p:nvPicPr>
            <p:cNvPr id="1037" name="图片 18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059832" y="1050241"/>
              <a:ext cx="673610" cy="8100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38" name="图片 19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730872" y="1050241"/>
              <a:ext cx="2713336" cy="53879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39" name="图片 20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3733442" y="1438169"/>
              <a:ext cx="2710766" cy="422074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lum bright="-12000" contrast="18000"/>
          </a:blip>
          <a:srcRect l="25270" r="18002"/>
          <a:stretch>
            <a:fillRect/>
          </a:stretch>
        </p:blipFill>
        <p:spPr>
          <a:xfrm>
            <a:off x="6381750" y="-27305"/>
            <a:ext cx="5829300" cy="691261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 bwMode="auto">
          <a:xfrm>
            <a:off x="439191" y="408938"/>
            <a:ext cx="7565481" cy="5800090"/>
            <a:chOff x="1038182" y="574695"/>
            <a:chExt cx="2932228" cy="3404063"/>
          </a:xfrm>
        </p:grpSpPr>
        <p:sp>
          <p:nvSpPr>
            <p:cNvPr id="44" name="任意多边形 43"/>
            <p:cNvSpPr/>
            <p:nvPr/>
          </p:nvSpPr>
          <p:spPr>
            <a:xfrm rot="16200000">
              <a:off x="768529" y="844348"/>
              <a:ext cx="3404063" cy="2864758"/>
            </a:xfrm>
            <a:custGeom>
              <a:avLst/>
              <a:gdLst>
                <a:gd name="connsiteX0" fmla="*/ 3606801 w 3606801"/>
                <a:gd name="connsiteY0" fmla="*/ 0 h 2864758"/>
                <a:gd name="connsiteX1" fmla="*/ 3606801 w 3606801"/>
                <a:gd name="connsiteY1" fmla="*/ 2864758 h 2864758"/>
                <a:gd name="connsiteX2" fmla="*/ 3298624 w 3606801"/>
                <a:gd name="connsiteY2" fmla="*/ 2864758 h 2864758"/>
                <a:gd name="connsiteX3" fmla="*/ 3183189 w 3606801"/>
                <a:gd name="connsiteY3" fmla="*/ 2665731 h 2864758"/>
                <a:gd name="connsiteX4" fmla="*/ 3067753 w 3606801"/>
                <a:gd name="connsiteY4" fmla="*/ 2864758 h 2864758"/>
                <a:gd name="connsiteX5" fmla="*/ 0 w 3606801"/>
                <a:gd name="connsiteY5" fmla="*/ 2864757 h 2864758"/>
                <a:gd name="connsiteX6" fmla="*/ 1 w 3606801"/>
                <a:gd name="connsiteY6" fmla="*/ 0 h 2864758"/>
                <a:gd name="connsiteX7" fmla="*/ 3606801 w 3606801"/>
                <a:gd name="connsiteY7" fmla="*/ 0 h 286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06801" h="2864758">
                  <a:moveTo>
                    <a:pt x="3606801" y="0"/>
                  </a:moveTo>
                  <a:lnTo>
                    <a:pt x="3606801" y="2864758"/>
                  </a:lnTo>
                  <a:lnTo>
                    <a:pt x="3298624" y="2864758"/>
                  </a:lnTo>
                  <a:lnTo>
                    <a:pt x="3183189" y="2665731"/>
                  </a:lnTo>
                  <a:lnTo>
                    <a:pt x="3067753" y="2864758"/>
                  </a:lnTo>
                  <a:lnTo>
                    <a:pt x="0" y="2864757"/>
                  </a:lnTo>
                  <a:lnTo>
                    <a:pt x="1" y="0"/>
                  </a:lnTo>
                  <a:lnTo>
                    <a:pt x="3606801" y="0"/>
                  </a:lnTo>
                  <a:close/>
                </a:path>
              </a:pathLst>
            </a:custGeom>
            <a:gradFill>
              <a:gsLst>
                <a:gs pos="0">
                  <a:srgbClr val="001140"/>
                </a:gs>
                <a:gs pos="100000">
                  <a:srgbClr val="33517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41" name="文本框 66"/>
            <p:cNvSpPr txBox="1">
              <a:spLocks noChangeArrowheads="1"/>
            </p:cNvSpPr>
            <p:nvPr/>
          </p:nvSpPr>
          <p:spPr bwMode="auto">
            <a:xfrm>
              <a:off x="1193527" y="1602842"/>
              <a:ext cx="2776883" cy="1467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marL="571500" lvl="0" indent="-571500" fontAlgn="auto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r>
                <a:rPr lang="zh-CN" altLang="en-US" sz="32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基于</a:t>
              </a:r>
              <a:r>
                <a:rPr lang="en-US" altLang="zh-CN" sz="32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ResNet50</a:t>
              </a:r>
              <a:r>
                <a:rPr lang="zh-CN" altLang="en-US" sz="32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的胎儿平面分类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  <a:p>
              <a:pPr marL="571500" lvl="0" indent="-571500" fontAlgn="auto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r>
                <a:rPr lang="zh-CN" altLang="en-US" sz="32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胎儿足分割与测量</a:t>
              </a:r>
              <a:endPara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571500" lvl="0" indent="-571500" fontAlgn="auto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+mj-lt"/>
                <a:buAutoNum type="arabicPeriod"/>
              </a:pPr>
              <a:r>
                <a:rPr lang="zh-CN" altLang="en-US" sz="32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基于</a:t>
              </a:r>
              <a:r>
                <a:rPr lang="en-US" altLang="zh-CN" sz="32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Diffusion model</a:t>
              </a:r>
              <a:r>
                <a:rPr lang="zh-CN" altLang="en-US" sz="32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的擦除模型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7" name="文本框 13"/>
          <p:cNvSpPr txBox="1">
            <a:spLocks noChangeArrowheads="1"/>
          </p:cNvSpPr>
          <p:nvPr/>
        </p:nvSpPr>
        <p:spPr bwMode="auto">
          <a:xfrm>
            <a:off x="6945999" y="154751"/>
            <a:ext cx="254268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 录</a:t>
            </a:r>
          </a:p>
        </p:txBody>
      </p:sp>
      <p:sp>
        <p:nvSpPr>
          <p:cNvPr id="48" name="文本框 13"/>
          <p:cNvSpPr txBox="1">
            <a:spLocks noChangeArrowheads="1"/>
          </p:cNvSpPr>
          <p:nvPr/>
        </p:nvSpPr>
        <p:spPr bwMode="auto">
          <a:xfrm>
            <a:off x="7040296" y="1206309"/>
            <a:ext cx="232918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4000" dirty="0" err="1">
                <a:solidFill>
                  <a:schemeClr val="bg1"/>
                </a:solidFill>
                <a:latin typeface="Arial Black" panose="020B0A04020102020204" charset="0"/>
                <a:ea typeface="微软雅黑" panose="020B0503020204020204" charset="-122"/>
                <a:cs typeface="Arial Black" panose="020B0A04020102020204" charset="0"/>
                <a:sym typeface="+mn-ea"/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A1162845-DDEA-8F1D-5D1B-92D18843822D}"/>
              </a:ext>
            </a:extLst>
          </p:cNvPr>
          <p:cNvSpPr txBox="1">
            <a:spLocks/>
          </p:cNvSpPr>
          <p:nvPr/>
        </p:nvSpPr>
        <p:spPr>
          <a:xfrm>
            <a:off x="955432" y="561701"/>
            <a:ext cx="1842364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0" normalizeH="0" baseline="0" noProof="1" dirty="0">
                <a:solidFill>
                  <a:srgbClr val="00114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r>
              <a:rPr lang="en-US" altLang="zh-CN" dirty="0" err="1"/>
              <a:t>ResNet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12524C-5CF6-6125-926B-70BC54CF3720}"/>
              </a:ext>
            </a:extLst>
          </p:cNvPr>
          <p:cNvSpPr txBox="1"/>
          <p:nvPr/>
        </p:nvSpPr>
        <p:spPr>
          <a:xfrm flipH="1">
            <a:off x="955432" y="1485000"/>
            <a:ext cx="101721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随着卷积神经网络（</a:t>
            </a:r>
            <a:r>
              <a:rPr lang="en-US" altLang="zh-CN" sz="1600" dirty="0"/>
              <a:t>CNN</a:t>
            </a:r>
            <a:r>
              <a:rPr lang="zh-CN" altLang="en-US" sz="1600" dirty="0"/>
              <a:t>）的不断发展，为了提取更加深层、更加抽象的特征，网络的层数也在持续增加。</a:t>
            </a:r>
            <a:br>
              <a:rPr lang="zh-CN" altLang="en-US" sz="1600" dirty="0"/>
            </a:br>
            <a:r>
              <a:rPr lang="zh-CN" altLang="en-US" sz="1600" dirty="0"/>
              <a:t>最早的 </a:t>
            </a:r>
            <a:r>
              <a:rPr lang="en-US" altLang="zh-CN" sz="1600" b="1" dirty="0"/>
              <a:t>LeNet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1998</a:t>
            </a:r>
            <a:r>
              <a:rPr lang="zh-CN" altLang="en-US" sz="1600" b="1" dirty="0"/>
              <a:t>）</a:t>
            </a:r>
            <a:r>
              <a:rPr lang="zh-CN" altLang="en-US" sz="1600" dirty="0"/>
              <a:t> 只有约 </a:t>
            </a:r>
            <a:r>
              <a:rPr lang="en-US" altLang="zh-CN" sz="1600" dirty="0"/>
              <a:t>5 </a:t>
            </a:r>
            <a:r>
              <a:rPr lang="zh-CN" altLang="en-US" sz="1600" dirty="0"/>
              <a:t>层；随后 </a:t>
            </a:r>
            <a:r>
              <a:rPr lang="en-US" altLang="zh-CN" sz="1600" b="1" dirty="0" err="1"/>
              <a:t>AlexNet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2012</a:t>
            </a:r>
            <a:r>
              <a:rPr lang="zh-CN" altLang="en-US" sz="1600" b="1" dirty="0"/>
              <a:t>）</a:t>
            </a:r>
            <a:r>
              <a:rPr lang="zh-CN" altLang="en-US" sz="1600" dirty="0"/>
              <a:t> 扩展到了 </a:t>
            </a:r>
            <a:r>
              <a:rPr lang="en-US" altLang="zh-CN" sz="1600" dirty="0"/>
              <a:t>8 </a:t>
            </a:r>
            <a:r>
              <a:rPr lang="zh-CN" altLang="en-US" sz="1600" dirty="0"/>
              <a:t>层；接着 </a:t>
            </a:r>
            <a:r>
              <a:rPr lang="en-US" altLang="zh-CN" sz="1600" b="1" dirty="0" err="1"/>
              <a:t>VGGNet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2014</a:t>
            </a:r>
            <a:r>
              <a:rPr lang="zh-CN" altLang="en-US" sz="1600" b="1" dirty="0"/>
              <a:t>）</a:t>
            </a:r>
            <a:r>
              <a:rPr lang="zh-CN" altLang="en-US" sz="1600" dirty="0"/>
              <a:t> 将深度进一步提升到 </a:t>
            </a:r>
            <a:r>
              <a:rPr lang="en-US" altLang="zh-CN" sz="1600" dirty="0"/>
              <a:t>19 </a:t>
            </a:r>
            <a:r>
              <a:rPr lang="zh-CN" altLang="en-US" sz="1600" dirty="0"/>
              <a:t>层；同年提出的 </a:t>
            </a:r>
            <a:r>
              <a:rPr lang="en-US" altLang="zh-CN" sz="1600" b="1" dirty="0" err="1"/>
              <a:t>GoogLeNet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2014</a:t>
            </a:r>
            <a:r>
              <a:rPr lang="zh-CN" altLang="en-US" sz="1600" b="1" dirty="0"/>
              <a:t>）</a:t>
            </a:r>
            <a:r>
              <a:rPr lang="zh-CN" altLang="en-US" sz="1600" dirty="0"/>
              <a:t> 更是达到了 </a:t>
            </a:r>
            <a:r>
              <a:rPr lang="en-US" altLang="zh-CN" sz="1600" dirty="0"/>
              <a:t>22 </a:t>
            </a:r>
            <a:r>
              <a:rPr lang="zh-CN" altLang="en-US" sz="1600" dirty="0"/>
              <a:t>层。</a:t>
            </a:r>
          </a:p>
          <a:p>
            <a:r>
              <a:rPr lang="zh-CN" altLang="en-US" sz="1600" dirty="0"/>
              <a:t>卷积神经网络是通过堆叠一系列卷积层和池化层获得的。然而，当网络被堆叠到特定深度时，就会出现降级问题。</a:t>
            </a:r>
            <a:endParaRPr lang="en-US" altLang="zh-CN" sz="1600" dirty="0"/>
          </a:p>
          <a:p>
            <a:endParaRPr lang="zh-CN" alt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0E82055-FC78-C898-82AE-D2AF3CAC9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00" y="2760898"/>
            <a:ext cx="6055298" cy="22859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DD990BA-86AF-FFD0-9111-4C2FB615C708}"/>
              </a:ext>
            </a:extLst>
          </p:cNvPr>
          <p:cNvSpPr txBox="1"/>
          <p:nvPr/>
        </p:nvSpPr>
        <p:spPr>
          <a:xfrm>
            <a:off x="958838" y="5218950"/>
            <a:ext cx="602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如图，展示了</a:t>
            </a:r>
            <a:r>
              <a:rPr lang="en-US" altLang="zh-CN" sz="1600" dirty="0"/>
              <a:t>CIFAR-10</a:t>
            </a:r>
            <a:r>
              <a:rPr lang="zh-CN" altLang="en-US" sz="1600" dirty="0"/>
              <a:t>数据集在</a:t>
            </a:r>
            <a:r>
              <a:rPr lang="en-US" altLang="zh-CN" sz="1600" dirty="0"/>
              <a:t>56</a:t>
            </a:r>
            <a:r>
              <a:rPr lang="zh-CN" altLang="en-US" sz="1600" dirty="0"/>
              <a:t>层网络和</a:t>
            </a:r>
            <a:r>
              <a:rPr lang="en-US" altLang="zh-CN" sz="1600" dirty="0"/>
              <a:t>20</a:t>
            </a:r>
            <a:r>
              <a:rPr lang="zh-CN" altLang="en-US" sz="1600" dirty="0"/>
              <a:t>层网络上的训练误差和测试误差。图中数据显示，</a:t>
            </a:r>
            <a:r>
              <a:rPr lang="en-US" altLang="zh-CN" sz="1600" dirty="0"/>
              <a:t>56</a:t>
            </a:r>
            <a:r>
              <a:rPr lang="zh-CN" altLang="en-US" sz="1600" dirty="0"/>
              <a:t>层网络的训练误差和测试误差均大于</a:t>
            </a:r>
            <a:r>
              <a:rPr lang="en-US" altLang="zh-CN" sz="1600" dirty="0"/>
              <a:t>20</a:t>
            </a:r>
            <a:r>
              <a:rPr lang="zh-CN" altLang="en-US" sz="1600" dirty="0"/>
              <a:t>层网络。随着网络深度的增加，误差并未如预期减少。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403F89-1FCB-C4FF-1542-F6A613CA1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000" y="2592245"/>
            <a:ext cx="3740859" cy="27807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83FE60A-D3F2-973C-9E16-C11D61A19163}"/>
              </a:ext>
            </a:extLst>
          </p:cNvPr>
          <p:cNvSpPr txBox="1"/>
          <p:nvPr/>
        </p:nvSpPr>
        <p:spPr>
          <a:xfrm>
            <a:off x="6816000" y="5517000"/>
            <a:ext cx="446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显示了</a:t>
            </a:r>
            <a:r>
              <a:rPr lang="en-US" altLang="zh-CN" sz="1600" dirty="0" err="1"/>
              <a:t>ResNet</a:t>
            </a:r>
            <a:r>
              <a:rPr lang="zh-CN" altLang="en-US" sz="1600" dirty="0"/>
              <a:t>在</a:t>
            </a:r>
            <a:r>
              <a:rPr lang="en-US" altLang="zh-CN" sz="1600" dirty="0"/>
              <a:t>CIFAR-10</a:t>
            </a:r>
            <a:r>
              <a:rPr lang="zh-CN" altLang="en-US" sz="1600" dirty="0"/>
              <a:t>数据集上的训练误差和测试误差。图中，虚线表示训练误差，实线表示测试误差。如图所示，更深的</a:t>
            </a:r>
            <a:r>
              <a:rPr lang="en-US" altLang="zh-CN" sz="1600" dirty="0" err="1"/>
              <a:t>ResNet</a:t>
            </a:r>
            <a:r>
              <a:rPr lang="zh-CN" altLang="en-US" sz="1600" dirty="0"/>
              <a:t>表示训练误差和测试误差较小。</a:t>
            </a:r>
          </a:p>
        </p:txBody>
      </p:sp>
    </p:spTree>
    <p:extLst>
      <p:ext uri="{BB962C8B-B14F-4D97-AF65-F5344CB8AC3E}">
        <p14:creationId xmlns:p14="http://schemas.microsoft.com/office/powerpoint/2010/main" val="12586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D8485-A41F-5A28-0A84-8AB3D4AA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311" y="559198"/>
            <a:ext cx="1842364" cy="646331"/>
          </a:xfrm>
        </p:spPr>
        <p:txBody>
          <a:bodyPr/>
          <a:lstStyle/>
          <a:p>
            <a:r>
              <a:rPr lang="en-US" altLang="zh-CN" dirty="0" err="1"/>
              <a:t>ResNet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3ED737-E02D-E32F-56A5-F898E68AF58A}"/>
              </a:ext>
            </a:extLst>
          </p:cNvPr>
          <p:cNvSpPr txBox="1"/>
          <p:nvPr/>
        </p:nvSpPr>
        <p:spPr>
          <a:xfrm flipH="1">
            <a:off x="869984" y="2425553"/>
            <a:ext cx="102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ResNet-50</a:t>
            </a:r>
            <a:r>
              <a:rPr lang="zh-CN" altLang="en-US" dirty="0"/>
              <a:t>由</a:t>
            </a:r>
            <a:r>
              <a:rPr lang="en-US" altLang="zh-CN" dirty="0"/>
              <a:t>Microsoft Research </a:t>
            </a:r>
            <a:r>
              <a:rPr lang="zh-CN" altLang="en-US" dirty="0"/>
              <a:t>的何凯明于</a:t>
            </a:r>
            <a:r>
              <a:rPr lang="en-US" altLang="zh-CN" dirty="0"/>
              <a:t>2015</a:t>
            </a:r>
            <a:r>
              <a:rPr lang="zh-CN" altLang="en-US" dirty="0"/>
              <a:t>年提出，并在</a:t>
            </a:r>
            <a:r>
              <a:rPr lang="en-US" altLang="zh-CN" dirty="0"/>
              <a:t>2015</a:t>
            </a:r>
            <a:r>
              <a:rPr lang="zh-CN" altLang="en-US" dirty="0"/>
              <a:t>年</a:t>
            </a:r>
            <a:r>
              <a:rPr lang="en-US" altLang="zh-CN" dirty="0"/>
              <a:t>ILSVRC(ImageNet Large Scale Visual Recognition Challenge)</a:t>
            </a:r>
            <a:r>
              <a:rPr lang="zh-CN" altLang="en-US" dirty="0"/>
              <a:t>中获得冠军。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D744B3-E149-FEB9-6B9D-6A0E76BBD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7" b="8530"/>
          <a:stretch>
            <a:fillRect/>
          </a:stretch>
        </p:blipFill>
        <p:spPr>
          <a:xfrm>
            <a:off x="984077" y="3501000"/>
            <a:ext cx="9932189" cy="203946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EF584FE-AB0F-BBA0-0E4F-A14C413FA5B0}"/>
              </a:ext>
            </a:extLst>
          </p:cNvPr>
          <p:cNvSpPr txBox="1"/>
          <p:nvPr/>
        </p:nvSpPr>
        <p:spPr>
          <a:xfrm>
            <a:off x="939679" y="1499682"/>
            <a:ext cx="10312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为了应对这一挑战，微软研究院提出了 </a:t>
            </a:r>
            <a:r>
              <a:rPr lang="en-US" altLang="zh-CN" sz="1800" b="1" dirty="0" err="1"/>
              <a:t>ResNet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Residual Network</a:t>
            </a:r>
            <a:r>
              <a:rPr lang="zh-CN" altLang="en-US" sz="1800" b="1" dirty="0"/>
              <a:t>）</a:t>
            </a:r>
            <a:r>
              <a:rPr lang="zh-CN" altLang="en-US" sz="1800" dirty="0"/>
              <a:t>。它通过引入“残差结构”有效缓解了深度退化问题，</a:t>
            </a:r>
            <a:r>
              <a:rPr lang="zh-CN" altLang="en-US" dirty="0"/>
              <a:t>能够有效缓解退化问题，设计更深层次的网络，并提高网络训练的准确性。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72894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E1939091-FABA-2D7C-4F1E-902F8D687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903" y="3914302"/>
            <a:ext cx="2184595" cy="196221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CE3B94D5-7A91-EE21-4824-06ADD7DF2D53}"/>
              </a:ext>
            </a:extLst>
          </p:cNvPr>
          <p:cNvSpPr txBox="1">
            <a:spLocks/>
          </p:cNvSpPr>
          <p:nvPr/>
        </p:nvSpPr>
        <p:spPr>
          <a:xfrm>
            <a:off x="912000" y="545089"/>
            <a:ext cx="1842364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0" normalizeH="0" baseline="0" noProof="1" dirty="0">
                <a:solidFill>
                  <a:srgbClr val="00114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r>
              <a:rPr lang="en-US" altLang="zh-CN" dirty="0" err="1"/>
              <a:t>ResNet</a:t>
            </a:r>
            <a:endParaRPr 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F704112-3EAA-A8EA-8AB2-679FE61FD8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000" y="1486310"/>
            <a:ext cx="3600000" cy="230177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D36E9EB-AC02-B1B1-EC66-E9F347C15B1C}"/>
              </a:ext>
            </a:extLst>
          </p:cNvPr>
          <p:cNvSpPr txBox="1"/>
          <p:nvPr/>
        </p:nvSpPr>
        <p:spPr>
          <a:xfrm>
            <a:off x="821419" y="3283191"/>
            <a:ext cx="62756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0" dirty="0" err="1">
                <a:solidFill>
                  <a:srgbClr val="1F2328"/>
                </a:solidFill>
                <a:effectLst/>
                <a:latin typeface="+mn-ea"/>
              </a:rPr>
              <a:t>ResNet</a:t>
            </a:r>
            <a:r>
              <a:rPr lang="zh-CN" altLang="en-US" i="0" dirty="0">
                <a:solidFill>
                  <a:srgbClr val="1F2328"/>
                </a:solidFill>
                <a:effectLst/>
                <a:latin typeface="+mn-ea"/>
              </a:rPr>
              <a:t>的本质： 残差网络背后的策略是让网络去拟合残差映射</a:t>
            </a:r>
            <a:r>
              <a:rPr lang="en-US" altLang="zh-CN" dirty="0">
                <a:solidFill>
                  <a:srgbClr val="1F2328"/>
                </a:solidFill>
                <a:latin typeface="+mn-ea"/>
              </a:rPr>
              <a:t>F(x)</a:t>
            </a:r>
            <a:r>
              <a:rPr lang="zh-CN" altLang="en-US" i="0" dirty="0">
                <a:solidFill>
                  <a:srgbClr val="1F2328"/>
                </a:solidFill>
                <a:effectLst/>
                <a:latin typeface="+mn-ea"/>
              </a:rPr>
              <a:t>，而不是去学习底层的映射</a:t>
            </a:r>
            <a:r>
              <a:rPr lang="en-US" altLang="zh-CN" i="0" dirty="0">
                <a:solidFill>
                  <a:srgbClr val="1F2328"/>
                </a:solidFill>
                <a:effectLst/>
                <a:latin typeface="+mn-ea"/>
              </a:rPr>
              <a:t>H(x)</a:t>
            </a:r>
            <a:r>
              <a:rPr lang="zh-CN" altLang="en-US" i="0" dirty="0">
                <a:solidFill>
                  <a:srgbClr val="1F2328"/>
                </a:solidFill>
                <a:effectLst/>
                <a:latin typeface="+mn-ea"/>
              </a:rPr>
              <a:t>。</a:t>
            </a:r>
            <a:endParaRPr lang="en-US" altLang="zh-CN" i="0" dirty="0">
              <a:solidFill>
                <a:srgbClr val="1F2328"/>
              </a:solidFill>
              <a:effectLst/>
              <a:latin typeface="+mn-ea"/>
            </a:endParaRPr>
          </a:p>
          <a:p>
            <a:r>
              <a:rPr lang="zh-CN" altLang="en-US" dirty="0">
                <a:latin typeface="+mn-ea"/>
              </a:rPr>
              <a:t>即</a:t>
            </a:r>
            <a:r>
              <a:rPr lang="zh-CN" altLang="en-US" b="1" dirty="0"/>
              <a:t>把复杂任务变成“在已有基础上微调”，更容易学习。</a:t>
            </a:r>
            <a:endParaRPr lang="en-US" altLang="zh-C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E952345-CE79-3E7B-9B60-3C2EFCCDEA7B}"/>
                  </a:ext>
                </a:extLst>
              </p:cNvPr>
              <p:cNvSpPr txBox="1"/>
              <p:nvPr/>
            </p:nvSpPr>
            <p:spPr>
              <a:xfrm>
                <a:off x="912000" y="1486310"/>
                <a:ext cx="105840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残余网络由两部分组成：</a:t>
                </a:r>
                <a:endParaRPr lang="en-US" altLang="zh-CN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dirty="0"/>
                  <a:t>主体：堆叠一系列的卷积操作；</a:t>
                </a:r>
                <a:endParaRPr lang="en-US" altLang="zh-CN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dirty="0"/>
                  <a:t>捷径：直接从输入到输出；</a:t>
                </a:r>
                <a:endParaRPr lang="en-US" altLang="zh-CN" dirty="0"/>
              </a:p>
              <a:p>
                <a:r>
                  <a:rPr lang="zh-CN" altLang="en-US" dirty="0"/>
                  <a:t>通过将主体输出的特征矩阵与捷径输出的特征矩阵相加得到输出</a:t>
                </a:r>
                <a:r>
                  <a:rPr lang="en-US" altLang="zh-C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dirty="0"/>
                  <a:t>)+x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dirty="0"/>
                  <a:t>)-x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E952345-CE79-3E7B-9B60-3C2EFCCDE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00" y="1486310"/>
                <a:ext cx="10584000" cy="2031325"/>
              </a:xfrm>
              <a:prstGeom prst="rect">
                <a:avLst/>
              </a:prstGeom>
              <a:blipFill>
                <a:blip r:embed="rId5"/>
                <a:stretch>
                  <a:fillRect l="-518" t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6F6DE5FC-F740-B0D7-1866-B39A10ACB4C0}"/>
              </a:ext>
            </a:extLst>
          </p:cNvPr>
          <p:cNvSpPr txBox="1"/>
          <p:nvPr/>
        </p:nvSpPr>
        <p:spPr>
          <a:xfrm>
            <a:off x="804000" y="4206521"/>
            <a:ext cx="5724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🟦 </a:t>
            </a:r>
            <a:r>
              <a:rPr lang="en-US" altLang="zh-CN" b="1" dirty="0"/>
              <a:t>1. </a:t>
            </a:r>
            <a:r>
              <a:rPr lang="zh-CN" altLang="en-US" b="1" dirty="0"/>
              <a:t>基本残差块（</a:t>
            </a:r>
            <a:r>
              <a:rPr lang="en-US" altLang="zh-CN" b="1" dirty="0"/>
              <a:t>Basic Block</a:t>
            </a:r>
            <a:r>
              <a:rPr lang="zh-CN" altLang="en-US" b="1" dirty="0"/>
              <a:t>）</a:t>
            </a:r>
            <a:r>
              <a:rPr lang="en-US" altLang="zh-CN" b="1" dirty="0"/>
              <a:t>——</a:t>
            </a:r>
            <a:r>
              <a:rPr lang="zh-CN" altLang="en-US" dirty="0"/>
              <a:t>用于浅层 </a:t>
            </a:r>
            <a:r>
              <a:rPr lang="en-US" altLang="zh-CN" dirty="0" err="1"/>
              <a:t>ResNet</a:t>
            </a:r>
            <a:r>
              <a:rPr lang="zh-CN" altLang="en-US" dirty="0"/>
              <a:t>（如</a:t>
            </a:r>
            <a:r>
              <a:rPr lang="es-ES" altLang="zh-CN" dirty="0"/>
              <a:t>ResNet-18</a:t>
            </a:r>
            <a:r>
              <a:rPr lang="zh-CN" altLang="es-ES" dirty="0"/>
              <a:t>、</a:t>
            </a:r>
            <a:r>
              <a:rPr lang="es-ES" altLang="zh-CN" dirty="0"/>
              <a:t>ResNet-34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结构：</a:t>
            </a:r>
            <a:r>
              <a:rPr lang="en-US" altLang="zh-CN" dirty="0"/>
              <a:t>2 </a:t>
            </a:r>
            <a:r>
              <a:rPr lang="zh-CN" altLang="en-US" dirty="0"/>
              <a:t>个 </a:t>
            </a:r>
            <a:r>
              <a:rPr lang="en-US" altLang="zh-CN" dirty="0"/>
              <a:t>3×3 </a:t>
            </a:r>
            <a:r>
              <a:rPr lang="zh-CN" altLang="en-US" dirty="0"/>
              <a:t>卷积层 </a:t>
            </a:r>
            <a:endParaRPr lang="en-US" altLang="zh-CN" dirty="0"/>
          </a:p>
          <a:p>
            <a:endParaRPr lang="en-US" altLang="zh-CN" b="1" dirty="0"/>
          </a:p>
          <a:p>
            <a:r>
              <a:rPr lang="zh-CN" altLang="en-US" b="1" dirty="0"/>
              <a:t>🟥 </a:t>
            </a:r>
            <a:r>
              <a:rPr lang="en-US" altLang="zh-CN" b="1" dirty="0"/>
              <a:t>2. </a:t>
            </a:r>
            <a:r>
              <a:rPr lang="zh-CN" altLang="en-US" b="1" dirty="0"/>
              <a:t>瓶颈残差块（</a:t>
            </a:r>
            <a:r>
              <a:rPr lang="en-US" altLang="zh-CN" b="1" dirty="0"/>
              <a:t>Bottleneck Block</a:t>
            </a:r>
            <a:r>
              <a:rPr lang="zh-CN" altLang="en-US" b="1" dirty="0"/>
              <a:t>）</a:t>
            </a:r>
            <a:r>
              <a:rPr lang="en-US" altLang="zh-CN" b="1" dirty="0"/>
              <a:t>——</a:t>
            </a:r>
            <a:r>
              <a:rPr lang="zh-CN" altLang="en-US" dirty="0"/>
              <a:t>用于深层 </a:t>
            </a:r>
            <a:r>
              <a:rPr lang="en-US" altLang="zh-CN" dirty="0" err="1"/>
              <a:t>ResNet</a:t>
            </a:r>
            <a:r>
              <a:rPr lang="zh-CN" altLang="en-US" dirty="0"/>
              <a:t>（如</a:t>
            </a:r>
            <a:r>
              <a:rPr lang="es-ES" altLang="zh-CN" dirty="0"/>
              <a:t>ResNet-50</a:t>
            </a:r>
            <a:r>
              <a:rPr lang="zh-CN" altLang="es-ES" dirty="0"/>
              <a:t>、</a:t>
            </a:r>
            <a:r>
              <a:rPr lang="es-ES" altLang="zh-CN" dirty="0"/>
              <a:t>ResNet-101</a:t>
            </a:r>
            <a:r>
              <a:rPr lang="zh-CN" altLang="es-ES" dirty="0"/>
              <a:t>、</a:t>
            </a:r>
            <a:r>
              <a:rPr lang="es-ES" altLang="zh-CN" dirty="0"/>
              <a:t>ResNet-152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结构：</a:t>
            </a:r>
            <a:r>
              <a:rPr lang="en-US" altLang="zh-CN" dirty="0"/>
              <a:t>1×1 → 3×3 → 1×1</a:t>
            </a:r>
            <a:r>
              <a:rPr lang="zh-CN" altLang="en-US" dirty="0"/>
              <a:t>（三层组合）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F5DD08-F5B2-DE23-7819-D42EEEE03EDE}"/>
              </a:ext>
            </a:extLst>
          </p:cNvPr>
          <p:cNvSpPr txBox="1"/>
          <p:nvPr/>
        </p:nvSpPr>
        <p:spPr>
          <a:xfrm>
            <a:off x="8174124" y="3980547"/>
            <a:ext cx="535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🟦</a:t>
            </a:r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17B20580-D4F8-F9AE-4988-485BA4762D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832" y="4965736"/>
            <a:ext cx="2450774" cy="1892264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54028E52-B975-C2BB-A0BA-603C502C11F9}"/>
              </a:ext>
            </a:extLst>
          </p:cNvPr>
          <p:cNvSpPr txBox="1"/>
          <p:nvPr/>
        </p:nvSpPr>
        <p:spPr>
          <a:xfrm>
            <a:off x="10801643" y="5002358"/>
            <a:ext cx="463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🟥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010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18EAE-AFCE-2E59-6A23-EC6EFAD8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E6DC6E9C-6E1E-B4BF-D1E3-1CE6933B7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903" y="3914302"/>
            <a:ext cx="2184595" cy="196221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40038043-B5E2-B484-D853-CB0C29ADDEE0}"/>
              </a:ext>
            </a:extLst>
          </p:cNvPr>
          <p:cNvSpPr txBox="1">
            <a:spLocks/>
          </p:cNvSpPr>
          <p:nvPr/>
        </p:nvSpPr>
        <p:spPr>
          <a:xfrm>
            <a:off x="848903" y="558095"/>
            <a:ext cx="1842364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0" normalizeH="0" baseline="0" noProof="1" dirty="0">
                <a:solidFill>
                  <a:srgbClr val="00114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r>
              <a:rPr lang="en-US" altLang="zh-CN" dirty="0" err="1"/>
              <a:t>ResNet</a:t>
            </a:r>
            <a:endParaRPr 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A423347-A120-2792-06CD-1EE737B13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000" y="1486310"/>
            <a:ext cx="3600000" cy="230177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BFA5FD7-79EC-1B25-7FA8-EC6F0E124C77}"/>
              </a:ext>
            </a:extLst>
          </p:cNvPr>
          <p:cNvSpPr txBox="1"/>
          <p:nvPr/>
        </p:nvSpPr>
        <p:spPr>
          <a:xfrm>
            <a:off x="821419" y="3283191"/>
            <a:ext cx="62756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0" dirty="0" err="1">
                <a:solidFill>
                  <a:srgbClr val="1F2328"/>
                </a:solidFill>
                <a:effectLst/>
                <a:latin typeface="+mn-ea"/>
              </a:rPr>
              <a:t>ResNet</a:t>
            </a:r>
            <a:r>
              <a:rPr lang="zh-CN" altLang="en-US" i="0" dirty="0">
                <a:solidFill>
                  <a:srgbClr val="1F2328"/>
                </a:solidFill>
                <a:effectLst/>
                <a:latin typeface="+mn-ea"/>
              </a:rPr>
              <a:t>的本质： 残差网络背后的策略是让网络去拟合残差映射</a:t>
            </a:r>
            <a:r>
              <a:rPr lang="en-US" altLang="zh-CN" dirty="0">
                <a:solidFill>
                  <a:srgbClr val="1F2328"/>
                </a:solidFill>
                <a:latin typeface="+mn-ea"/>
              </a:rPr>
              <a:t>F(x)</a:t>
            </a:r>
            <a:r>
              <a:rPr lang="zh-CN" altLang="en-US" i="0" dirty="0">
                <a:solidFill>
                  <a:srgbClr val="1F2328"/>
                </a:solidFill>
                <a:effectLst/>
                <a:latin typeface="+mn-ea"/>
              </a:rPr>
              <a:t>，而不是去学习底层的映射</a:t>
            </a:r>
            <a:r>
              <a:rPr lang="en-US" altLang="zh-CN" i="0" dirty="0">
                <a:solidFill>
                  <a:srgbClr val="1F2328"/>
                </a:solidFill>
                <a:effectLst/>
                <a:latin typeface="+mn-ea"/>
              </a:rPr>
              <a:t>H(x)</a:t>
            </a:r>
            <a:r>
              <a:rPr lang="zh-CN" altLang="en-US" i="0" dirty="0">
                <a:solidFill>
                  <a:srgbClr val="1F2328"/>
                </a:solidFill>
                <a:effectLst/>
                <a:latin typeface="+mn-ea"/>
              </a:rPr>
              <a:t>。</a:t>
            </a:r>
            <a:endParaRPr lang="en-US" altLang="zh-CN" i="0" dirty="0">
              <a:solidFill>
                <a:srgbClr val="1F2328"/>
              </a:solidFill>
              <a:effectLst/>
              <a:latin typeface="+mn-ea"/>
            </a:endParaRPr>
          </a:p>
          <a:p>
            <a:r>
              <a:rPr lang="zh-CN" altLang="en-US" dirty="0">
                <a:latin typeface="+mn-ea"/>
              </a:rPr>
              <a:t>即</a:t>
            </a:r>
            <a:r>
              <a:rPr lang="zh-CN" altLang="en-US" b="1" dirty="0"/>
              <a:t>把复杂任务变成“在已有基础上微调”，更容易学习。</a:t>
            </a:r>
            <a:endParaRPr lang="en-US" altLang="zh-C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3300720-526D-D9B4-71FB-20FF33E97A33}"/>
                  </a:ext>
                </a:extLst>
              </p:cNvPr>
              <p:cNvSpPr txBox="1"/>
              <p:nvPr/>
            </p:nvSpPr>
            <p:spPr>
              <a:xfrm>
                <a:off x="912000" y="1486310"/>
                <a:ext cx="105840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残余网络由两部分组成：</a:t>
                </a:r>
                <a:endParaRPr lang="en-US" altLang="zh-CN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dirty="0"/>
                  <a:t>主体：堆叠一系列的卷积操作；</a:t>
                </a:r>
                <a:endParaRPr lang="en-US" altLang="zh-CN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dirty="0"/>
                  <a:t>捷径：直接从输入到输出；</a:t>
                </a:r>
                <a:endParaRPr lang="en-US" altLang="zh-CN" dirty="0"/>
              </a:p>
              <a:p>
                <a:r>
                  <a:rPr lang="zh-CN" altLang="en-US" dirty="0"/>
                  <a:t>通过将主体输出的特征矩阵与捷径输出的特征矩阵相加得到输出</a:t>
                </a:r>
                <a:r>
                  <a:rPr lang="en-US" altLang="zh-C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dirty="0"/>
                  <a:t>)+x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dirty="0"/>
                  <a:t>)-x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3300720-526D-D9B4-71FB-20FF33E97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00" y="1486310"/>
                <a:ext cx="10584000" cy="2031325"/>
              </a:xfrm>
              <a:prstGeom prst="rect">
                <a:avLst/>
              </a:prstGeom>
              <a:blipFill>
                <a:blip r:embed="rId5"/>
                <a:stretch>
                  <a:fillRect l="-518" t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E72B9967-B224-CF94-9A14-1C7F6C594E59}"/>
              </a:ext>
            </a:extLst>
          </p:cNvPr>
          <p:cNvSpPr txBox="1"/>
          <p:nvPr/>
        </p:nvSpPr>
        <p:spPr>
          <a:xfrm>
            <a:off x="804000" y="4206521"/>
            <a:ext cx="5724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🟦 </a:t>
            </a:r>
            <a:r>
              <a:rPr lang="en-US" altLang="zh-CN" b="1" dirty="0"/>
              <a:t>1. </a:t>
            </a:r>
            <a:r>
              <a:rPr lang="zh-CN" altLang="en-US" b="1" dirty="0"/>
              <a:t>基本残差块（</a:t>
            </a:r>
            <a:r>
              <a:rPr lang="en-US" altLang="zh-CN" b="1" dirty="0"/>
              <a:t>Basic Block</a:t>
            </a:r>
            <a:r>
              <a:rPr lang="zh-CN" altLang="en-US" b="1" dirty="0"/>
              <a:t>）</a:t>
            </a:r>
            <a:r>
              <a:rPr lang="en-US" altLang="zh-CN" b="1" dirty="0"/>
              <a:t>——</a:t>
            </a:r>
            <a:r>
              <a:rPr lang="zh-CN" altLang="en-US" dirty="0"/>
              <a:t>用于浅层 </a:t>
            </a:r>
            <a:r>
              <a:rPr lang="en-US" altLang="zh-CN" dirty="0" err="1"/>
              <a:t>ResNet</a:t>
            </a:r>
            <a:r>
              <a:rPr lang="zh-CN" altLang="en-US" dirty="0"/>
              <a:t>（如</a:t>
            </a:r>
            <a:r>
              <a:rPr lang="es-ES" altLang="zh-CN" dirty="0"/>
              <a:t>ResNet-18</a:t>
            </a:r>
            <a:r>
              <a:rPr lang="zh-CN" altLang="es-ES" dirty="0"/>
              <a:t>、</a:t>
            </a:r>
            <a:r>
              <a:rPr lang="es-ES" altLang="zh-CN" dirty="0"/>
              <a:t>ResNet-34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结构：</a:t>
            </a:r>
            <a:r>
              <a:rPr lang="en-US" altLang="zh-CN" dirty="0"/>
              <a:t>2 </a:t>
            </a:r>
            <a:r>
              <a:rPr lang="zh-CN" altLang="en-US" dirty="0"/>
              <a:t>个 </a:t>
            </a:r>
            <a:r>
              <a:rPr lang="en-US" altLang="zh-CN" dirty="0"/>
              <a:t>3×3 </a:t>
            </a:r>
            <a:r>
              <a:rPr lang="zh-CN" altLang="en-US" dirty="0"/>
              <a:t>卷积层 </a:t>
            </a:r>
            <a:endParaRPr lang="en-US" altLang="zh-CN" dirty="0"/>
          </a:p>
          <a:p>
            <a:endParaRPr lang="en-US" altLang="zh-CN" b="1" dirty="0"/>
          </a:p>
          <a:p>
            <a:r>
              <a:rPr lang="zh-CN" altLang="en-US" b="1" dirty="0"/>
              <a:t>🟥 </a:t>
            </a:r>
            <a:r>
              <a:rPr lang="en-US" altLang="zh-CN" b="1" dirty="0"/>
              <a:t>2. </a:t>
            </a:r>
            <a:r>
              <a:rPr lang="zh-CN" altLang="en-US" b="1" dirty="0"/>
              <a:t>瓶颈残差块（</a:t>
            </a:r>
            <a:r>
              <a:rPr lang="en-US" altLang="zh-CN" b="1" dirty="0"/>
              <a:t>Bottleneck Block</a:t>
            </a:r>
            <a:r>
              <a:rPr lang="zh-CN" altLang="en-US" b="1" dirty="0"/>
              <a:t>）</a:t>
            </a:r>
            <a:r>
              <a:rPr lang="en-US" altLang="zh-CN" b="1" dirty="0"/>
              <a:t>——</a:t>
            </a:r>
            <a:r>
              <a:rPr lang="zh-CN" altLang="en-US" dirty="0"/>
              <a:t>用于深层 </a:t>
            </a:r>
            <a:r>
              <a:rPr lang="en-US" altLang="zh-CN" dirty="0" err="1"/>
              <a:t>ResNet</a:t>
            </a:r>
            <a:r>
              <a:rPr lang="zh-CN" altLang="en-US" dirty="0"/>
              <a:t>（如</a:t>
            </a:r>
            <a:r>
              <a:rPr lang="es-ES" altLang="zh-CN" dirty="0"/>
              <a:t>ResNet-50</a:t>
            </a:r>
            <a:r>
              <a:rPr lang="zh-CN" altLang="es-ES" dirty="0"/>
              <a:t>、</a:t>
            </a:r>
            <a:r>
              <a:rPr lang="es-ES" altLang="zh-CN" dirty="0"/>
              <a:t>ResNet-101</a:t>
            </a:r>
            <a:r>
              <a:rPr lang="zh-CN" altLang="es-ES" dirty="0"/>
              <a:t>、</a:t>
            </a:r>
            <a:r>
              <a:rPr lang="es-ES" altLang="zh-CN" dirty="0"/>
              <a:t>ResNet-152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结构：</a:t>
            </a:r>
            <a:r>
              <a:rPr lang="en-US" altLang="zh-CN" dirty="0"/>
              <a:t>1×1 → 3×3 → 1×1</a:t>
            </a:r>
            <a:r>
              <a:rPr lang="zh-CN" altLang="en-US" dirty="0"/>
              <a:t>（三层组合）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0A33234-B682-E4D2-4199-3FCF9D794FA8}"/>
              </a:ext>
            </a:extLst>
          </p:cNvPr>
          <p:cNvSpPr txBox="1"/>
          <p:nvPr/>
        </p:nvSpPr>
        <p:spPr>
          <a:xfrm>
            <a:off x="8174124" y="3980547"/>
            <a:ext cx="535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🟦</a:t>
            </a:r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C93DDBEE-F2A2-A0CA-DB27-7D653ED06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832" y="4965736"/>
            <a:ext cx="2450774" cy="1892264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B9EB0207-8634-D851-C1BD-8AC3C36EB8CB}"/>
              </a:ext>
            </a:extLst>
          </p:cNvPr>
          <p:cNvSpPr txBox="1"/>
          <p:nvPr/>
        </p:nvSpPr>
        <p:spPr>
          <a:xfrm>
            <a:off x="10801643" y="5002358"/>
            <a:ext cx="463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🟥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7329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85733-DA5A-3998-D4F8-B582C133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AB65D099-9511-7999-4D46-212D4B4C0D98}"/>
              </a:ext>
            </a:extLst>
          </p:cNvPr>
          <p:cNvSpPr txBox="1">
            <a:spLocks/>
          </p:cNvSpPr>
          <p:nvPr/>
        </p:nvSpPr>
        <p:spPr>
          <a:xfrm>
            <a:off x="840000" y="621000"/>
            <a:ext cx="2413033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0" normalizeH="0" baseline="0" noProof="1" dirty="0">
                <a:solidFill>
                  <a:srgbClr val="00114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r>
              <a:rPr lang="en-US" altLang="zh-CN" dirty="0"/>
              <a:t>ResNet50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0A47F4-CDF3-5F75-C606-4B9177035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51" y="1701000"/>
            <a:ext cx="8527999" cy="4797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82EA28B-C125-F15B-CE14-7226F4FBE418}"/>
              </a:ext>
            </a:extLst>
          </p:cNvPr>
          <p:cNvSpPr txBox="1"/>
          <p:nvPr/>
        </p:nvSpPr>
        <p:spPr>
          <a:xfrm>
            <a:off x="938520" y="13316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整体架构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F0C3B7-D8A7-C033-36F9-3EEFB4EF68CD}"/>
              </a:ext>
            </a:extLst>
          </p:cNvPr>
          <p:cNvSpPr txBox="1"/>
          <p:nvPr/>
        </p:nvSpPr>
        <p:spPr>
          <a:xfrm>
            <a:off x="3576000" y="1331668"/>
            <a:ext cx="2082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各个</a:t>
            </a:r>
            <a:r>
              <a:rPr lang="en-US" altLang="zh-CN" dirty="0"/>
              <a:t>Stage</a:t>
            </a:r>
            <a:r>
              <a:rPr lang="zh-CN" altLang="en-US" dirty="0"/>
              <a:t>具体结构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6BAFEF-2D9C-4AB1-9221-32F139CB0894}"/>
              </a:ext>
            </a:extLst>
          </p:cNvPr>
          <p:cNvSpPr txBox="1"/>
          <p:nvPr/>
        </p:nvSpPr>
        <p:spPr>
          <a:xfrm>
            <a:off x="7157202" y="1331668"/>
            <a:ext cx="2113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Bottleneck</a:t>
            </a:r>
            <a:r>
              <a:rPr lang="zh-CN" altLang="en-US" dirty="0"/>
              <a:t>具体结构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D143BC-31EE-57A3-C7DE-A3160804DF61}"/>
              </a:ext>
            </a:extLst>
          </p:cNvPr>
          <p:cNvSpPr txBox="1"/>
          <p:nvPr/>
        </p:nvSpPr>
        <p:spPr>
          <a:xfrm>
            <a:off x="9397350" y="1678012"/>
            <a:ext cx="19252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输入与输出通道数不同</a:t>
            </a:r>
            <a:endParaRPr lang="en-US" altLang="zh-CN" b="1" dirty="0"/>
          </a:p>
          <a:p>
            <a:r>
              <a:rPr lang="zh-CN" altLang="en-US" sz="1600" dirty="0"/>
              <a:t>与</a:t>
            </a:r>
            <a:r>
              <a:rPr lang="en-US" altLang="zh-CN" sz="1600" dirty="0"/>
              <a:t>BTNK2</a:t>
            </a:r>
            <a:r>
              <a:rPr lang="zh-CN" altLang="en-US" sz="1600" dirty="0"/>
              <a:t>相比，</a:t>
            </a:r>
            <a:r>
              <a:rPr lang="en-US" altLang="zh-CN" sz="1600" dirty="0"/>
              <a:t>BTNK1</a:t>
            </a:r>
            <a:r>
              <a:rPr lang="zh-CN" altLang="en-US" sz="1600" dirty="0"/>
              <a:t>多了一个右侧的卷积层，令为</a:t>
            </a:r>
            <a:r>
              <a:rPr lang="en-US" altLang="zh-CN" sz="1600" dirty="0"/>
              <a:t>G(x)</a:t>
            </a:r>
            <a:r>
              <a:rPr lang="zh-CN" altLang="en-US" sz="1600" dirty="0"/>
              <a:t>，起到匹配输入与输出维度差异的作用，</a:t>
            </a:r>
            <a:r>
              <a:rPr lang="en-US" altLang="zh-CN" sz="1600" dirty="0"/>
              <a:t>G(x)</a:t>
            </a:r>
            <a:r>
              <a:rPr lang="zh-CN" altLang="en-US" sz="1600" dirty="0"/>
              <a:t>与</a:t>
            </a:r>
            <a:r>
              <a:rPr lang="en-US" altLang="zh-CN" sz="1600" dirty="0"/>
              <a:t>F(x)</a:t>
            </a:r>
            <a:r>
              <a:rPr lang="zh-CN" altLang="en-US" sz="1600" dirty="0"/>
              <a:t>通道数相同，进而可以进行求和</a:t>
            </a:r>
            <a:r>
              <a:rPr lang="en-US" altLang="zh-CN" sz="1600" dirty="0"/>
              <a:t>F(x)+G(x)</a:t>
            </a:r>
            <a:r>
              <a:rPr lang="zh-CN" altLang="en-US" sz="1600" dirty="0"/>
              <a:t>。</a:t>
            </a:r>
            <a:endParaRPr lang="en-US" altLang="zh-CN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92093E-4086-2FEC-BCB0-587C77C5AE1B}"/>
              </a:ext>
            </a:extLst>
          </p:cNvPr>
          <p:cNvSpPr txBox="1"/>
          <p:nvPr/>
        </p:nvSpPr>
        <p:spPr>
          <a:xfrm>
            <a:off x="682966" y="6488668"/>
            <a:ext cx="5123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CONV: Convolution; BN: Batch Normalization;  S:step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7254F7-0A73-999F-3AD0-0D29ECDCF26E}"/>
              </a:ext>
            </a:extLst>
          </p:cNvPr>
          <p:cNvSpPr txBox="1"/>
          <p:nvPr/>
        </p:nvSpPr>
        <p:spPr>
          <a:xfrm>
            <a:off x="9397351" y="4725000"/>
            <a:ext cx="18106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输入与输出通道数相同</a:t>
            </a:r>
            <a:endParaRPr lang="en-US" altLang="zh-CN" b="1" dirty="0"/>
          </a:p>
          <a:p>
            <a:r>
              <a:rPr lang="en-US" altLang="zh-CN" sz="1600" dirty="0"/>
              <a:t>2</a:t>
            </a:r>
            <a:r>
              <a:rPr lang="zh-CN" altLang="en-US" sz="1600" dirty="0"/>
              <a:t>个可变的参数</a:t>
            </a:r>
            <a:r>
              <a:rPr lang="es-ES" altLang="zh-CN" sz="1600" dirty="0"/>
              <a:t>C</a:t>
            </a:r>
            <a:r>
              <a:rPr lang="zh-CN" altLang="en-US" sz="1600" dirty="0"/>
              <a:t>和</a:t>
            </a:r>
            <a:r>
              <a:rPr lang="es-ES" altLang="zh-CN" sz="1600" dirty="0"/>
              <a:t>W</a:t>
            </a:r>
            <a:r>
              <a:rPr lang="zh-CN" altLang="es-ES" sz="1600" dirty="0"/>
              <a:t>，</a:t>
            </a:r>
            <a:r>
              <a:rPr lang="zh-CN" altLang="en-US" sz="1600" dirty="0"/>
              <a:t>即输入的形状</a:t>
            </a:r>
            <a:r>
              <a:rPr lang="en-US" altLang="zh-CN" sz="1600" dirty="0"/>
              <a:t>(</a:t>
            </a:r>
            <a:r>
              <a:rPr lang="es-ES" altLang="zh-CN" sz="1600" dirty="0"/>
              <a:t>C,W,W)</a:t>
            </a:r>
            <a:r>
              <a:rPr lang="zh-CN" altLang="en-US" sz="1600" dirty="0"/>
              <a:t>中的</a:t>
            </a:r>
            <a:r>
              <a:rPr lang="es-ES" altLang="zh-CN" sz="1600" dirty="0"/>
              <a:t>c</a:t>
            </a:r>
            <a:r>
              <a:rPr lang="zh-CN" altLang="en-US" sz="1600" dirty="0"/>
              <a:t>和</a:t>
            </a:r>
            <a:r>
              <a:rPr lang="es-ES" altLang="zh-CN" sz="1600" dirty="0"/>
              <a:t>W</a:t>
            </a:r>
            <a:r>
              <a:rPr lang="zh-CN" altLang="en-US" sz="1600" dirty="0"/>
              <a:t>。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325788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4A4E3-BF0E-7A6B-5992-60893C69A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71A25-724E-38EC-2F2A-09CF339C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448" y="549000"/>
            <a:ext cx="7491346" cy="646331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ResNet50</a:t>
            </a:r>
            <a:r>
              <a:rPr lang="zh-CN" altLang="en-US" dirty="0"/>
              <a:t>的胎儿平面分类任务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B3B5CA-D5CD-71CA-6503-20E49580C876}"/>
              </a:ext>
            </a:extLst>
          </p:cNvPr>
          <p:cNvSpPr txBox="1"/>
          <p:nvPr/>
        </p:nvSpPr>
        <p:spPr>
          <a:xfrm>
            <a:off x="8400000" y="1629000"/>
            <a:ext cx="256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总数据：</a:t>
            </a:r>
            <a:r>
              <a:rPr lang="en-US" altLang="zh-CN" sz="2000" dirty="0"/>
              <a:t>93012</a:t>
            </a:r>
            <a:r>
              <a:rPr lang="zh-CN" altLang="en-US" sz="2000" dirty="0"/>
              <a:t>张</a:t>
            </a:r>
            <a:endParaRPr lang="en-US" altLang="zh-CN" sz="2000" dirty="0"/>
          </a:p>
          <a:p>
            <a:r>
              <a:rPr lang="zh-CN" altLang="en-US" sz="2000" dirty="0"/>
              <a:t>训练集：</a:t>
            </a:r>
            <a:r>
              <a:rPr lang="en-US" altLang="zh-CN" sz="2000" dirty="0"/>
              <a:t>37222</a:t>
            </a:r>
            <a:r>
              <a:rPr lang="zh-CN" altLang="en-US" sz="2000" dirty="0"/>
              <a:t>张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8F96A2-A9FC-DB3B-D60C-9D07CB4B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00" y="1413000"/>
            <a:ext cx="7035355" cy="527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EAFD6-DACE-4A6A-BFBF-E9618379F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21C4C0E-775A-9A9D-44F6-7C6BFBA805B2}"/>
              </a:ext>
            </a:extLst>
          </p:cNvPr>
          <p:cNvSpPr txBox="1"/>
          <p:nvPr/>
        </p:nvSpPr>
        <p:spPr>
          <a:xfrm>
            <a:off x="986865" y="6314886"/>
            <a:ext cx="878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验证集：</a:t>
            </a:r>
            <a:r>
              <a:rPr lang="en-US" altLang="zh-CN" sz="2000" dirty="0"/>
              <a:t>11140</a:t>
            </a:r>
            <a:r>
              <a:rPr lang="zh-CN" altLang="en-US" sz="2000" dirty="0"/>
              <a:t>张</a:t>
            </a:r>
            <a:r>
              <a:rPr lang="en-US" altLang="zh-CN" sz="2000" dirty="0"/>
              <a:t>	</a:t>
            </a:r>
            <a:r>
              <a:rPr lang="zh-CN" altLang="en-US" sz="2000" dirty="0"/>
              <a:t>测试集：</a:t>
            </a:r>
            <a:r>
              <a:rPr lang="en-US" altLang="zh-CN" sz="2000" dirty="0"/>
              <a:t>44650</a:t>
            </a:r>
            <a:r>
              <a:rPr lang="zh-CN" altLang="en-US" sz="2000" dirty="0"/>
              <a:t>张</a:t>
            </a:r>
          </a:p>
          <a:p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B2B432-5D89-A9A8-4ADC-9D9285EF0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49" y="1592322"/>
            <a:ext cx="4920903" cy="36906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4A5E05-9FA3-7D4F-C54D-6820444FE258}"/>
              </a:ext>
            </a:extLst>
          </p:cNvPr>
          <p:cNvSpPr txBox="1"/>
          <p:nvPr/>
        </p:nvSpPr>
        <p:spPr>
          <a:xfrm>
            <a:off x="1006993" y="5445000"/>
            <a:ext cx="98438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原来的验证集与训练集存在病例重合，导致验证指标虚高，所以将原来的测试集按照</a:t>
            </a:r>
            <a:r>
              <a:rPr lang="en-US" altLang="zh-CN" sz="2000" dirty="0"/>
              <a:t>2:8</a:t>
            </a:r>
            <a:r>
              <a:rPr lang="zh-CN" altLang="en-US" sz="2000" dirty="0"/>
              <a:t>的比例划分为了现在的验证集和测试集。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238ACD64-2C36-9B8E-7F45-1E9557410502}"/>
              </a:ext>
            </a:extLst>
          </p:cNvPr>
          <p:cNvSpPr txBox="1">
            <a:spLocks/>
          </p:cNvSpPr>
          <p:nvPr/>
        </p:nvSpPr>
        <p:spPr>
          <a:xfrm>
            <a:off x="912448" y="549000"/>
            <a:ext cx="7491346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0" normalizeH="0" baseline="0" noProof="1" dirty="0">
                <a:solidFill>
                  <a:srgbClr val="00114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r>
              <a:rPr lang="zh-CN" altLang="en-US"/>
              <a:t>基于</a:t>
            </a:r>
            <a:r>
              <a:rPr lang="es-ES" altLang="zh-CN"/>
              <a:t>ResNet50</a:t>
            </a:r>
            <a:r>
              <a:rPr lang="zh-CN" altLang="en-US"/>
              <a:t>的胎儿平面分类任务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7CE30E-BB03-CB1F-9A10-8ACD6E09C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960" y="1596947"/>
            <a:ext cx="4944904" cy="370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15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4E23A6-6DDC-D313-31C2-5DE3C8E5F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00" y="663335"/>
            <a:ext cx="2031326" cy="646331"/>
          </a:xfrm>
        </p:spPr>
        <p:txBody>
          <a:bodyPr/>
          <a:lstStyle/>
          <a:p>
            <a:r>
              <a:rPr lang="zh-CN" altLang="en-US" dirty="0"/>
              <a:t>训练曲线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52A9EB-7519-6D5B-8DAC-84F583A02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32" y="1454705"/>
            <a:ext cx="6759255" cy="434383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F1411FB-9B88-B018-5F02-CF995BEBC225}"/>
              </a:ext>
            </a:extLst>
          </p:cNvPr>
          <p:cNvSpPr txBox="1"/>
          <p:nvPr/>
        </p:nvSpPr>
        <p:spPr>
          <a:xfrm>
            <a:off x="7760588" y="4875205"/>
            <a:ext cx="4197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exp2</a:t>
            </a:r>
            <a:r>
              <a:rPr lang="zh-CN" altLang="en-US" dirty="0"/>
              <a:t>测试使用的权重：</a:t>
            </a:r>
            <a:endParaRPr lang="es-ES" altLang="zh-CN" dirty="0"/>
          </a:p>
          <a:p>
            <a:r>
              <a:rPr lang="es-ES" altLang="zh-CN" dirty="0"/>
              <a:t>resnet50_best_model_0.6757110357284546.pth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23C93D-3024-C033-B904-87CC8A85B060}"/>
              </a:ext>
            </a:extLst>
          </p:cNvPr>
          <p:cNvSpPr txBox="1"/>
          <p:nvPr/>
        </p:nvSpPr>
        <p:spPr>
          <a:xfrm>
            <a:off x="7760588" y="1701000"/>
            <a:ext cx="3396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避免过拟合：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使用早停机制；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自定义</a:t>
            </a:r>
            <a:r>
              <a:rPr lang="en-US" altLang="zh-CN" dirty="0"/>
              <a:t>fc</a:t>
            </a:r>
            <a:r>
              <a:rPr lang="zh-CN" altLang="en-US" dirty="0"/>
              <a:t>层</a:t>
            </a:r>
            <a:r>
              <a:rPr lang="en-US" altLang="zh-CN" dirty="0"/>
              <a:t> </a:t>
            </a:r>
            <a:r>
              <a:rPr lang="zh-CN" altLang="en-US" dirty="0"/>
              <a:t>，加入</a:t>
            </a:r>
            <a:r>
              <a:rPr lang="en-US" altLang="zh-CN" dirty="0"/>
              <a:t>dropout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83996D3-A671-0BF9-61DA-6095DA8E0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588" y="2703547"/>
            <a:ext cx="4044960" cy="77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28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3EB5-FD88-8A80-AAF7-1BD43377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BB5BC-633A-0AB5-287D-31B62EAF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00" y="621000"/>
            <a:ext cx="3877985" cy="646331"/>
          </a:xfrm>
        </p:spPr>
        <p:txBody>
          <a:bodyPr/>
          <a:lstStyle/>
          <a:p>
            <a:r>
              <a:rPr lang="zh-CN" altLang="en-US" dirty="0"/>
              <a:t>胎儿平面分类任务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1581A0-8397-B17F-14A0-A9A342A0EF2E}"/>
              </a:ext>
            </a:extLst>
          </p:cNvPr>
          <p:cNvSpPr txBox="1"/>
          <p:nvPr/>
        </p:nvSpPr>
        <p:spPr>
          <a:xfrm>
            <a:off x="7104000" y="177300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测试总体评价指标：</a:t>
            </a: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95E1639-7E0C-5E28-05E1-AFD3A59F39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45" t="9055" r="14724" b="6956"/>
          <a:stretch>
            <a:fillRect/>
          </a:stretch>
        </p:blipFill>
        <p:spPr>
          <a:xfrm>
            <a:off x="840000" y="1500270"/>
            <a:ext cx="5961330" cy="5240729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9057A2F-D04B-A4E2-036D-210D9DD9E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95553"/>
              </p:ext>
            </p:extLst>
          </p:nvPr>
        </p:nvGraphicFramePr>
        <p:xfrm>
          <a:off x="7147879" y="2143977"/>
          <a:ext cx="303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600">
                  <a:extLst>
                    <a:ext uri="{9D8B030D-6E8A-4147-A177-3AD203B41FA5}">
                      <a16:colId xmlns:a16="http://schemas.microsoft.com/office/drawing/2014/main" val="434128120"/>
                    </a:ext>
                  </a:extLst>
                </a:gridCol>
                <a:gridCol w="1515600">
                  <a:extLst>
                    <a:ext uri="{9D8B030D-6E8A-4147-A177-3AD203B41FA5}">
                      <a16:colId xmlns:a16="http://schemas.microsoft.com/office/drawing/2014/main" val="1735320159"/>
                    </a:ext>
                  </a:extLst>
                </a:gridCol>
              </a:tblGrid>
              <a:tr h="308160">
                <a:tc>
                  <a:txBody>
                    <a:bodyPr/>
                    <a:lstStyle/>
                    <a:p>
                      <a:r>
                        <a:rPr lang="zh-CN" altLang="en-US" dirty="0"/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794100"/>
                  </a:ext>
                </a:extLst>
              </a:tr>
              <a:tr h="308160">
                <a:tc>
                  <a:txBody>
                    <a:bodyPr/>
                    <a:lstStyle/>
                    <a:p>
                      <a:r>
                        <a:rPr lang="es-ES" altLang="zh-C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0.6744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511484"/>
                  </a:ext>
                </a:extLst>
              </a:tr>
              <a:tr h="308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0.6684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722180"/>
                  </a:ext>
                </a:extLst>
              </a:tr>
              <a:tr h="308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0.6868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541655"/>
                  </a:ext>
                </a:extLst>
              </a:tr>
              <a:tr h="308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0.6592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02635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1AD54238-8B13-669A-B579-C7EEA45FC628}"/>
              </a:ext>
            </a:extLst>
          </p:cNvPr>
          <p:cNvSpPr txBox="1"/>
          <p:nvPr/>
        </p:nvSpPr>
        <p:spPr>
          <a:xfrm>
            <a:off x="6967199" y="4041962"/>
            <a:ext cx="306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按</a:t>
            </a:r>
            <a:r>
              <a:rPr lang="en-US" altLang="zh-CN" dirty="0" err="1"/>
              <a:t>uid</a:t>
            </a:r>
            <a:r>
              <a:rPr lang="zh-CN" altLang="en-US" dirty="0"/>
              <a:t>分组准确率</a:t>
            </a:r>
            <a:r>
              <a:rPr lang="en-US" altLang="zh-CN" dirty="0"/>
              <a:t>top-3</a:t>
            </a:r>
            <a:r>
              <a:rPr lang="zh-CN" altLang="en-US" dirty="0"/>
              <a:t>指标：</a:t>
            </a:r>
            <a:endParaRPr lang="en-US" altLang="zh-CN" dirty="0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083B5A80-CDBD-8DF7-CEA9-DDBC75915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873558"/>
              </p:ext>
            </p:extLst>
          </p:nvPr>
        </p:nvGraphicFramePr>
        <p:xfrm>
          <a:off x="7078529" y="4411294"/>
          <a:ext cx="413667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890">
                  <a:extLst>
                    <a:ext uri="{9D8B030D-6E8A-4147-A177-3AD203B41FA5}">
                      <a16:colId xmlns:a16="http://schemas.microsoft.com/office/drawing/2014/main" val="434128120"/>
                    </a:ext>
                  </a:extLst>
                </a:gridCol>
                <a:gridCol w="1378890">
                  <a:extLst>
                    <a:ext uri="{9D8B030D-6E8A-4147-A177-3AD203B41FA5}">
                      <a16:colId xmlns:a16="http://schemas.microsoft.com/office/drawing/2014/main" val="1735320159"/>
                    </a:ext>
                  </a:extLst>
                </a:gridCol>
                <a:gridCol w="1378890">
                  <a:extLst>
                    <a:ext uri="{9D8B030D-6E8A-4147-A177-3AD203B41FA5}">
                      <a16:colId xmlns:a16="http://schemas.microsoft.com/office/drawing/2014/main" val="555796814"/>
                    </a:ext>
                  </a:extLst>
                </a:gridCol>
              </a:tblGrid>
              <a:tr h="308160">
                <a:tc>
                  <a:txBody>
                    <a:bodyPr/>
                    <a:lstStyle/>
                    <a:p>
                      <a:r>
                        <a:rPr lang="en-US" altLang="zh-CN" dirty="0"/>
                        <a:t>UID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Accuracy</a:t>
                      </a:r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样本数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794100"/>
                  </a:ext>
                </a:extLst>
              </a:tr>
              <a:tr h="308160">
                <a:tc>
                  <a:txBody>
                    <a:bodyPr/>
                    <a:lstStyle/>
                    <a:p>
                      <a:r>
                        <a:rPr lang="es-ES" altLang="zh-CN" dirty="0"/>
                        <a:t>0317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0.9104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480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511484"/>
                  </a:ext>
                </a:extLst>
              </a:tr>
              <a:tr h="308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dirty="0"/>
                        <a:t>0408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566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722180"/>
                  </a:ext>
                </a:extLst>
              </a:tr>
              <a:tr h="308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dirty="0"/>
                        <a:t>0213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0.8879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464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54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636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257925" y="559435"/>
            <a:ext cx="5662295" cy="6008370"/>
          </a:xfrm>
          <a:prstGeom prst="rect">
            <a:avLst/>
          </a:prstGeom>
          <a:solidFill>
            <a:schemeClr val="accent5">
              <a:lumMod val="75000"/>
              <a:alpha val="34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94840" y="1899285"/>
            <a:ext cx="22009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64845" y="3399790"/>
            <a:ext cx="4888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/>
            <a:r>
              <a:rPr lang="zh-CN" altLang="en-US" sz="28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—请各位批评指正—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lum bright="-12000"/>
          </a:blip>
          <a:stretch>
            <a:fillRect/>
          </a:stretch>
        </p:blipFill>
        <p:spPr>
          <a:xfrm>
            <a:off x="6635750" y="2527300"/>
            <a:ext cx="4907280" cy="1802765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1544955" y="4353560"/>
            <a:ext cx="2900045" cy="503555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2025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10366</TotalTime>
  <Words>976</Words>
  <Application>Microsoft Office PowerPoint</Application>
  <PresentationFormat>宽屏</PresentationFormat>
  <Paragraphs>101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华文中宋</vt:lpstr>
      <vt:lpstr>宋体</vt:lpstr>
      <vt:lpstr>微软雅黑</vt:lpstr>
      <vt:lpstr>Arial</vt:lpstr>
      <vt:lpstr>Arial Black</vt:lpstr>
      <vt:lpstr>Calibri</vt:lpstr>
      <vt:lpstr>Calibri Light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ResNet</vt:lpstr>
      <vt:lpstr>PowerPoint 演示文稿</vt:lpstr>
      <vt:lpstr>PowerPoint 演示文稿</vt:lpstr>
      <vt:lpstr>PowerPoint 演示文稿</vt:lpstr>
      <vt:lpstr>基于ResNet50的胎儿平面分类任务</vt:lpstr>
      <vt:lpstr>PowerPoint 演示文稿</vt:lpstr>
      <vt:lpstr>训练曲线</vt:lpstr>
      <vt:lpstr>胎儿平面分类任务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渝相 邓</cp:lastModifiedBy>
  <cp:revision>86</cp:revision>
  <dcterms:created xsi:type="dcterms:W3CDTF">2019-07-23T07:50:00Z</dcterms:created>
  <dcterms:modified xsi:type="dcterms:W3CDTF">2025-12-02T06:59:49Z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C385CF7C14004458A3BECD289C3D506A_13</vt:lpwstr>
  </property>
</Properties>
</file>